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934" autoAdjust="0"/>
  </p:normalViewPr>
  <p:slideViewPr>
    <p:cSldViewPr snapToGrid="0" snapToObjects="1">
      <p:cViewPr varScale="1">
        <p:scale>
          <a:sx n="61" d="100"/>
          <a:sy n="61" d="100"/>
        </p:scale>
        <p:origin x="1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이탈률(%)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31B2E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SKT</c:v>
                </c:pt>
                <c:pt idx="1">
                  <c:v>KT</c:v>
                </c:pt>
                <c:pt idx="2">
                  <c:v>LG U+</c:v>
                </c:pt>
                <c:pt idx="3">
                  <c:v>알뜰폰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29.7</c:v>
                </c:pt>
                <c:pt idx="1">
                  <c:v>42.7</c:v>
                </c:pt>
                <c:pt idx="2">
                  <c:v>46.2</c:v>
                </c:pt>
                <c:pt idx="3">
                  <c:v>45.6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AD-4DCB-8A29-852CFC2682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94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ko-KR" altLang="ko-KR" b="0" dirty="0" err="1"/>
              <a:t>LightGBM과</a:t>
            </a:r>
            <a:r>
              <a:rPr lang="ko-KR" altLang="ko-KR" b="0" dirty="0"/>
              <a:t> </a:t>
            </a:r>
            <a:r>
              <a:rPr lang="ko-KR" altLang="ko-KR" b="0" dirty="0" err="1"/>
              <a:t>XGBoost</a:t>
            </a:r>
            <a:r>
              <a:rPr lang="ko-KR" altLang="ko-KR" b="0" dirty="0"/>
              <a:t> 두 가지 모델을 두고 검증</a:t>
            </a:r>
            <a:r>
              <a:rPr lang="en-US" altLang="ko-KR" b="0" dirty="0"/>
              <a:t> </a:t>
            </a:r>
            <a:r>
              <a:rPr lang="ko-KR" altLang="en-US" b="0" dirty="0"/>
              <a:t>진행</a:t>
            </a:r>
            <a:endParaRPr lang="en-US" altLang="ko-KR" b="0" dirty="0"/>
          </a:p>
          <a:p>
            <a:r>
              <a:rPr lang="ko-KR" altLang="ko-KR" b="0" dirty="0"/>
              <a:t>먼저 단순 정확도인 </a:t>
            </a:r>
            <a:r>
              <a:rPr lang="ko-KR" altLang="ko-KR" b="0" dirty="0" err="1"/>
              <a:t>Accuracy만</a:t>
            </a:r>
            <a:r>
              <a:rPr lang="ko-KR" altLang="ko-KR" b="0" dirty="0"/>
              <a:t> 보면, 왼쪽의 </a:t>
            </a:r>
            <a:r>
              <a:rPr lang="ko-KR" altLang="ko-KR" b="0" dirty="0" err="1"/>
              <a:t>LightGBM이</a:t>
            </a:r>
            <a:r>
              <a:rPr lang="ko-KR" altLang="ko-KR" b="0" dirty="0"/>
              <a:t> 62.22%로, 오른쪽 </a:t>
            </a:r>
            <a:r>
              <a:rPr lang="ko-KR" altLang="ko-KR" b="0" dirty="0" err="1"/>
              <a:t>XGBoost의</a:t>
            </a:r>
            <a:r>
              <a:rPr lang="ko-KR" altLang="ko-KR" b="0" dirty="0"/>
              <a:t> 61.34%보다 약 0.9%p가량 더 높게 나타</a:t>
            </a:r>
            <a:r>
              <a:rPr lang="ko-KR" altLang="en-US" b="0" dirty="0"/>
              <a:t>남</a:t>
            </a:r>
            <a:r>
              <a:rPr lang="ko-KR" altLang="ko-KR" b="0" dirty="0"/>
              <a:t>.</a:t>
            </a:r>
            <a:endParaRPr lang="en-US" altLang="ko-KR" b="0" dirty="0"/>
          </a:p>
          <a:p>
            <a:r>
              <a:rPr lang="ko-KR" altLang="ko-KR" b="0" dirty="0"/>
              <a:t>세부 지표를 들여다보면 명확한 차이가 존재</a:t>
            </a:r>
          </a:p>
          <a:p>
            <a:r>
              <a:rPr lang="ko-KR" altLang="ko-KR" b="0" dirty="0" err="1"/>
              <a:t>LightGBM의</a:t>
            </a:r>
            <a:r>
              <a:rPr lang="ko-KR" altLang="ko-KR" b="0" dirty="0"/>
              <a:t> 경우, 대다수를 차지하는 SKT 예측의 </a:t>
            </a:r>
            <a:r>
              <a:rPr lang="ko-KR" altLang="ko-KR" b="0" dirty="0" err="1"/>
              <a:t>Recall이</a:t>
            </a:r>
            <a:r>
              <a:rPr lang="ko-KR" altLang="ko-KR" b="0" dirty="0"/>
              <a:t> 0.98에 달할 정도로 SKT 이동 예측에 과도하게 치중</a:t>
            </a:r>
            <a:r>
              <a:rPr lang="ko-KR" altLang="en-US" b="0" dirty="0"/>
              <a:t>됨</a:t>
            </a:r>
            <a:r>
              <a:rPr lang="en-US" altLang="ko-KR" b="0" dirty="0"/>
              <a:t>. </a:t>
            </a:r>
            <a:r>
              <a:rPr lang="ko-KR" altLang="ko-KR" b="0" dirty="0"/>
              <a:t>이로 인해 소수 클래스인 </a:t>
            </a:r>
            <a:r>
              <a:rPr lang="ko-KR" altLang="ko-KR" b="0" dirty="0" err="1"/>
              <a:t>LGU+의</a:t>
            </a:r>
            <a:r>
              <a:rPr lang="ko-KR" altLang="ko-KR" b="0" dirty="0"/>
              <a:t> F1-score</a:t>
            </a:r>
            <a:r>
              <a:rPr lang="en-US" altLang="ko-KR" b="0" dirty="0"/>
              <a:t> </a:t>
            </a:r>
            <a:r>
              <a:rPr lang="ko-KR" altLang="en-US" b="0" dirty="0"/>
              <a:t>과 </a:t>
            </a:r>
            <a:r>
              <a:rPr lang="en-US" altLang="ko-KR" b="0" dirty="0"/>
              <a:t>Recall</a:t>
            </a:r>
            <a:r>
              <a:rPr lang="ko-KR" altLang="en-US" b="0" dirty="0"/>
              <a:t>은</a:t>
            </a:r>
            <a:r>
              <a:rPr lang="ko-KR" altLang="ko-KR" b="0" dirty="0"/>
              <a:t> 0.30</a:t>
            </a:r>
            <a:r>
              <a:rPr lang="en-US" altLang="ko-KR" b="0" dirty="0"/>
              <a:t> </a:t>
            </a:r>
            <a:r>
              <a:rPr lang="ko-KR" altLang="en-US" b="0" dirty="0"/>
              <a:t>과 </a:t>
            </a:r>
            <a:r>
              <a:rPr lang="en-US" altLang="ko-KR" b="0" dirty="0"/>
              <a:t>0.21 </a:t>
            </a:r>
            <a:r>
              <a:rPr lang="ko-KR" altLang="ko-KR" b="0" dirty="0"/>
              <a:t>에 그치며 클래스 간 불균형 문제를 해결하지 </a:t>
            </a:r>
            <a:r>
              <a:rPr lang="ko-KR" altLang="ko-KR" b="0" dirty="0" err="1"/>
              <a:t>못</a:t>
            </a:r>
            <a:r>
              <a:rPr lang="ko-KR" altLang="en-US" b="0" dirty="0" err="1"/>
              <a:t>한것으로</a:t>
            </a:r>
            <a:r>
              <a:rPr lang="ko-KR" altLang="en-US" b="0" dirty="0"/>
              <a:t> 판단</a:t>
            </a:r>
            <a:r>
              <a:rPr lang="ko-KR" altLang="ko-KR" b="0" dirty="0"/>
              <a:t>.</a:t>
            </a:r>
          </a:p>
          <a:p>
            <a:r>
              <a:rPr lang="ko-KR" altLang="ko-KR" b="0" dirty="0"/>
              <a:t>반면, 최종 선택된 </a:t>
            </a:r>
            <a:r>
              <a:rPr lang="ko-KR" altLang="ko-KR" b="0" dirty="0" err="1"/>
              <a:t>XGBoost</a:t>
            </a:r>
            <a:r>
              <a:rPr lang="ko-KR" altLang="ko-KR" b="0" dirty="0"/>
              <a:t> 모델은 전체 정확도가 미세하게 낮아졌지만, </a:t>
            </a:r>
            <a:r>
              <a:rPr lang="ko-KR" altLang="ko-KR" b="0" dirty="0" err="1"/>
              <a:t>LGU+의</a:t>
            </a:r>
            <a:r>
              <a:rPr lang="ko-KR" altLang="ko-KR" b="0" dirty="0"/>
              <a:t> F1-score</a:t>
            </a:r>
            <a:r>
              <a:rPr lang="ko-KR" altLang="en-US" b="0" dirty="0"/>
              <a:t>와 </a:t>
            </a:r>
            <a:r>
              <a:rPr lang="en-US" altLang="ko-KR" b="0" dirty="0"/>
              <a:t>Recall</a:t>
            </a:r>
            <a:r>
              <a:rPr lang="ko-KR" altLang="en-US" b="0" dirty="0"/>
              <a:t>을 </a:t>
            </a:r>
            <a:r>
              <a:rPr lang="en-US" altLang="ko-KR" b="0" dirty="0"/>
              <a:t>0.42 , 0.37 </a:t>
            </a:r>
            <a:r>
              <a:rPr lang="ko-KR" altLang="en-US" b="0" dirty="0"/>
              <a:t>까지 </a:t>
            </a:r>
            <a:r>
              <a:rPr lang="ko-KR" altLang="ko-KR" b="0" dirty="0"/>
              <a:t>끌어올</a:t>
            </a:r>
            <a:r>
              <a:rPr lang="ko-KR" altLang="en-US" b="0" dirty="0"/>
              <a:t>림</a:t>
            </a:r>
            <a:r>
              <a:rPr lang="ko-KR" altLang="ko-KR" b="0" dirty="0"/>
              <a:t>. 결과적으로 균형 지표인 </a:t>
            </a:r>
            <a:r>
              <a:rPr lang="ko-KR" altLang="ko-KR" b="0" dirty="0" err="1"/>
              <a:t>macro</a:t>
            </a:r>
            <a:r>
              <a:rPr lang="ko-KR" altLang="ko-KR" b="0" dirty="0"/>
              <a:t> </a:t>
            </a:r>
            <a:r>
              <a:rPr lang="ko-KR" altLang="ko-KR" b="0" dirty="0" err="1"/>
              <a:t>avg</a:t>
            </a:r>
            <a:r>
              <a:rPr lang="ko-KR" altLang="ko-KR" b="0" dirty="0"/>
              <a:t> F1 역시 0.57로 더 우수한 성능을 보</a:t>
            </a:r>
            <a:r>
              <a:rPr lang="ko-KR" altLang="en-US" b="0" dirty="0"/>
              <a:t>임</a:t>
            </a:r>
            <a:r>
              <a:rPr lang="ko-KR" altLang="ko-KR" b="0" dirty="0"/>
              <a:t>.</a:t>
            </a:r>
          </a:p>
          <a:p>
            <a:r>
              <a:rPr lang="ko-KR" altLang="ko-KR" b="0" dirty="0"/>
              <a:t>특정 통신사에 쏠리지 않고 통신 3사를 모두 균형 있게 예측하는 것이 실제 서비스 목적에 더 부합한다고 판단</a:t>
            </a:r>
            <a:r>
              <a:rPr lang="en-US" altLang="ko-KR" b="0" dirty="0"/>
              <a:t>, </a:t>
            </a:r>
            <a:r>
              <a:rPr lang="ko-KR" altLang="ko-KR" b="0" dirty="0"/>
              <a:t>최종 모델로 </a:t>
            </a:r>
            <a:r>
              <a:rPr lang="ko-KR" altLang="ko-KR" b="0" dirty="0" err="1"/>
              <a:t>XGBoost를</a:t>
            </a:r>
            <a:r>
              <a:rPr lang="ko-KR" altLang="ko-KR" b="0" dirty="0"/>
              <a:t> 채택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405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F6B5B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31B2E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icons/phone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SKN32-2nd-1Team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통신사 고객 이탈 예측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9436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기반 이탈 예측과 차기 통신사 이동 분석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4206240"/>
            <a:ext cx="2926080" cy="0"/>
          </a:xfrm>
          <a:prstGeom prst="line">
            <a:avLst/>
          </a:prstGeom>
          <a:noFill/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한국미디어패널조사(2010–2024) 기반 · SK Networks Family AI Camp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002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0" y="19202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통신사 이탈 예측인가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25420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0" y="25420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한국미디어패널조사 데이터 구조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31638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정의·전처리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0" y="316382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패널 데이터 가공 과정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856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378561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이탈 예측 모델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378561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기반 이탈 확률 예측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0740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4407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통신사 예측 모델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0" y="440740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기반 이동 통신사 예측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0020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&amp; 화면 데모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5029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얼굴인증 로그인부터 AI 분석까지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50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00200" y="5650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및 향후 계획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0" y="565099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한계점과 다음 단계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통신사 이탈 예측인가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국내 이동통신 시장 경쟁 심화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6309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경쟁과 결합상품 중심 마케팅으로 가입자 유치 경쟁 심화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알뜰폰(MVNO) 급성장으로 기존 3사 점유율 위협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고객 유치 비용은 기존 고객 유지 비용보다 훨씬 높음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가입자 유지는 통신사 장기 수익성의 핵심 지표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82880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cons/bulb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48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가설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0" y="32004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고객의 이탈은 요금 수준, 결합상품 이용 여부, 통신사 변경 이력, 인구통계학적 특성 등 복합적 요인으로 예측 가능하다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한국미디어패널조사 데이터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table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48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147,915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6868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관측 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icons/users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848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19,840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66344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고객 수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icons/calendar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8483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8200" y="2542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2010–2024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45820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기간 (15개년)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변수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64240" cy="21031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/ gender /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나이·성별·소득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코드값 (소득 1~8단계)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가입 통신사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SKT / KT / LG U+ / 알뜰폰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monthly_total_cost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월평균 통신비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천원 단위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is_mobile_bundled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결합상품 가입 여부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 / 아니오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이탈 정의 및 데이터 가공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exchange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57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이탈(Churn) 정의  </a:t>
            </a:r>
            <a:r>
              <a:rPr lang="en-US" sz="15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조사 시점에 가입 통신사가 바뀌면 이탈(1), 그대로면 유지(0)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데이터 통합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4663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2010~2024년 개인정보·통신 변수를 id 기준 시계열로 결합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324612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61188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6118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11880" y="4069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변수 통일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611880" y="4663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연도별로 다른 변수명(a01027/a02014/a03008)을 provider로 통합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24612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44652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446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4069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라벨 생성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46520" y="4663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고객의 다음 해 데이터와 비교해 통신사 변경 여부 산출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52560" y="324612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9281160" y="34747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92811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81160" y="4069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281160" y="46634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 비율이 높은 행 제거, 학습 변수 14개로 정제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통신사별 이탈률 비교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82880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s/search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1031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816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43800" y="26974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 이탈률 29.7% — 3사 중 가장 낮음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U+ 이탈률 46.2% — 가장 높음, SKT 대비 약 1.6배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KT·LG U+ 고객은 평균 통신비가 SKT보다 높고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결합할인 가입률은 SKT보다 낮음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 이탈 예측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brain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고객은 이탈할 것인가?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</a:t>
            </a:r>
            <a:r>
              <a:rPr lang="ko-KR" alt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LGB+XGB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인적사항 + 통신 이용 패턴 (1개 시점)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확률 0~100%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160520"/>
            <a:ext cx="448056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파생 변수 (FeatureEngineer)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대비 통신비/소득 변화율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3개년 이동평균·표준편차 (cost_roll_mean_3 등)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변경 여부 및 비용 급증 플래그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182880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1"/>
          <p:cNvSpPr/>
          <p:nvPr/>
        </p:nvSpPr>
        <p:spPr>
          <a:xfrm>
            <a:off x="635508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78개 입력 피처 → 이탈 확률 예측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55080" y="2697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icons/databas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79806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2651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입력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995160" y="2953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통신비</a:t>
            </a: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14개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601968" y="3200400"/>
            <a:ext cx="0" cy="50292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355080" y="3840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94106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3794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엔지니어링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995160" y="4096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비율·변화율·이동평균 등 78개로 확장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601968" y="4343400"/>
            <a:ext cx="0" cy="50292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355080" y="4983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icons/chartlin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08406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4937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</a:t>
            </a: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LGB+XGB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995160" y="5239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확률(0~1) 산출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차기 통신사 예측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exchange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이탈한다면 어디로 갈 것인가?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모델: </a:t>
            </a:r>
            <a:r>
              <a:rPr lang="en-US" sz="1400" dirty="0" err="1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ko-KR" sz="1400" dirty="0"/>
              <a:t>다중분류 / 균형 예측 최적화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</a:t>
            </a:r>
            <a:r>
              <a:rPr lang="en-US" sz="1400" dirty="0" err="1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고객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 / KT / LG U+ 이동 확률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160520"/>
            <a:ext cx="448056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1과의 차이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6634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여부(0/1)가 아니라 이동 목적지를 예측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tenure(가입 연수), </a:t>
            </a:r>
            <a:r>
              <a:rPr lang="en-US" altLang="ko-KR" sz="12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total_changes</a:t>
            </a:r>
            <a:r>
              <a:rPr lang="en-US" altLang="ko-KR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통신사 변경 횟수</a:t>
            </a:r>
            <a:r>
              <a:rPr lang="en-US" altLang="ko-KR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altLang="ko-KR" sz="12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provider_changed</a:t>
            </a:r>
            <a:r>
              <a:rPr lang="en-US" altLang="ko-KR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통신사 변경 여부</a:t>
            </a:r>
            <a:r>
              <a:rPr lang="en-US" altLang="ko-KR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</a:t>
            </a:r>
            <a:r>
              <a:rPr lang="en-US" sz="12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endParaRPr lang="en-US" sz="1250" dirty="0">
              <a:solidFill>
                <a:srgbClr val="1F2A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ko-KR" altLang="en-US" sz="12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데이터 불균형으로 </a:t>
            </a:r>
            <a:r>
              <a:rPr lang="ko-KR" altLang="en-US" sz="1250" dirty="0" err="1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알뜰폰</a:t>
            </a:r>
            <a:r>
              <a:rPr lang="ko-KR" altLang="en-US" sz="12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 제외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95" name="Shape 10">
            <a:extLst>
              <a:ext uri="{FF2B5EF4-FFF2-40B4-BE49-F238E27FC236}">
                <a16:creationId xmlns:a16="http://schemas.microsoft.com/office/drawing/2014/main" id="{5A281905-94A7-AAAA-DC57-BF56F43CEE2D}"/>
              </a:ext>
            </a:extLst>
          </p:cNvPr>
          <p:cNvSpPr/>
          <p:nvPr/>
        </p:nvSpPr>
        <p:spPr>
          <a:xfrm>
            <a:off x="6035040" y="182880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316EAB17-244E-7552-D144-CC72C62AEC12}"/>
              </a:ext>
            </a:extLst>
          </p:cNvPr>
          <p:cNvSpPr/>
          <p:nvPr/>
        </p:nvSpPr>
        <p:spPr>
          <a:xfrm>
            <a:off x="635508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78개 입력 피처 → 이탈 확률 예측</a:t>
            </a:r>
            <a:endParaRPr lang="en-US" sz="1400" dirty="0"/>
          </a:p>
        </p:txBody>
      </p:sp>
      <p:sp>
        <p:nvSpPr>
          <p:cNvPr id="99" name="Shape 12">
            <a:extLst>
              <a:ext uri="{FF2B5EF4-FFF2-40B4-BE49-F238E27FC236}">
                <a16:creationId xmlns:a16="http://schemas.microsoft.com/office/drawing/2014/main" id="{C14B77A9-8F39-26AB-F52F-06F68A0C22B1}"/>
              </a:ext>
            </a:extLst>
          </p:cNvPr>
          <p:cNvSpPr/>
          <p:nvPr/>
        </p:nvSpPr>
        <p:spPr>
          <a:xfrm>
            <a:off x="6355080" y="2697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1" name="Image 1" descr="icons/database_navy.png">
            <a:extLst>
              <a:ext uri="{FF2B5EF4-FFF2-40B4-BE49-F238E27FC236}">
                <a16:creationId xmlns:a16="http://schemas.microsoft.com/office/drawing/2014/main" id="{D60F0ECA-900D-B03B-A998-4857FF1BE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798064"/>
            <a:ext cx="301752" cy="301752"/>
          </a:xfrm>
          <a:prstGeom prst="rect">
            <a:avLst/>
          </a:prstGeom>
        </p:spPr>
      </p:pic>
      <p:sp>
        <p:nvSpPr>
          <p:cNvPr id="103" name="Text 13">
            <a:extLst>
              <a:ext uri="{FF2B5EF4-FFF2-40B4-BE49-F238E27FC236}">
                <a16:creationId xmlns:a16="http://schemas.microsoft.com/office/drawing/2014/main" id="{24777DB1-AAB1-C899-F9FA-6B7B81E5C154}"/>
              </a:ext>
            </a:extLst>
          </p:cNvPr>
          <p:cNvSpPr/>
          <p:nvPr/>
        </p:nvSpPr>
        <p:spPr>
          <a:xfrm>
            <a:off x="6995160" y="2651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입력</a:t>
            </a:r>
            <a:endParaRPr lang="en-US" sz="1350" dirty="0"/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6DE69FF6-FE23-7EE8-3094-60B3C7610779}"/>
              </a:ext>
            </a:extLst>
          </p:cNvPr>
          <p:cNvSpPr/>
          <p:nvPr/>
        </p:nvSpPr>
        <p:spPr>
          <a:xfrm>
            <a:off x="6995160" y="2953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50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통신비</a:t>
            </a: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13개</a:t>
            </a:r>
            <a:endParaRPr lang="en-US" sz="1150" dirty="0"/>
          </a:p>
        </p:txBody>
      </p:sp>
      <p:sp>
        <p:nvSpPr>
          <p:cNvPr id="107" name="Shape 15">
            <a:extLst>
              <a:ext uri="{FF2B5EF4-FFF2-40B4-BE49-F238E27FC236}">
                <a16:creationId xmlns:a16="http://schemas.microsoft.com/office/drawing/2014/main" id="{C06AD689-36F4-DDDD-43A0-CB7ECCA7504A}"/>
              </a:ext>
            </a:extLst>
          </p:cNvPr>
          <p:cNvSpPr/>
          <p:nvPr/>
        </p:nvSpPr>
        <p:spPr>
          <a:xfrm>
            <a:off x="6601968" y="3200400"/>
            <a:ext cx="0" cy="50292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6">
            <a:extLst>
              <a:ext uri="{FF2B5EF4-FFF2-40B4-BE49-F238E27FC236}">
                <a16:creationId xmlns:a16="http://schemas.microsoft.com/office/drawing/2014/main" id="{8C74F233-6C75-8727-5546-2EA5ACEE1340}"/>
              </a:ext>
            </a:extLst>
          </p:cNvPr>
          <p:cNvSpPr/>
          <p:nvPr/>
        </p:nvSpPr>
        <p:spPr>
          <a:xfrm>
            <a:off x="6355080" y="3840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1" name="Image 2" descr="icons/cogs_navy.png">
            <a:extLst>
              <a:ext uri="{FF2B5EF4-FFF2-40B4-BE49-F238E27FC236}">
                <a16:creationId xmlns:a16="http://schemas.microsoft.com/office/drawing/2014/main" id="{2BF5E2E2-1B21-CAB9-B963-6E2B096A7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941064"/>
            <a:ext cx="301752" cy="301752"/>
          </a:xfrm>
          <a:prstGeom prst="rect">
            <a:avLst/>
          </a:prstGeom>
        </p:spPr>
      </p:pic>
      <p:sp>
        <p:nvSpPr>
          <p:cNvPr id="113" name="Text 17">
            <a:extLst>
              <a:ext uri="{FF2B5EF4-FFF2-40B4-BE49-F238E27FC236}">
                <a16:creationId xmlns:a16="http://schemas.microsoft.com/office/drawing/2014/main" id="{520117D4-C0E0-0735-ECC1-70FEBCE60B60}"/>
              </a:ext>
            </a:extLst>
          </p:cNvPr>
          <p:cNvSpPr/>
          <p:nvPr/>
        </p:nvSpPr>
        <p:spPr>
          <a:xfrm>
            <a:off x="6995160" y="3794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피처 엔지니어링</a:t>
            </a:r>
            <a:endParaRPr lang="en-US" sz="1350" dirty="0"/>
          </a:p>
        </p:txBody>
      </p:sp>
      <p:sp>
        <p:nvSpPr>
          <p:cNvPr id="115" name="Text 18">
            <a:extLst>
              <a:ext uri="{FF2B5EF4-FFF2-40B4-BE49-F238E27FC236}">
                <a16:creationId xmlns:a16="http://schemas.microsoft.com/office/drawing/2014/main" id="{E315D4F7-6B74-9E18-7C92-F73A4CE5C86E}"/>
              </a:ext>
            </a:extLst>
          </p:cNvPr>
          <p:cNvSpPr/>
          <p:nvPr/>
        </p:nvSpPr>
        <p:spPr>
          <a:xfrm>
            <a:off x="6995160" y="4096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가입 연수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ko-KR" altLang="en-US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변경 이력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등 </a:t>
            </a:r>
            <a:r>
              <a:rPr lang="en-US" altLang="ko-KR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17</a:t>
            </a:r>
            <a:r>
              <a:rPr lang="ko-KR" altLang="en-US" sz="1150" dirty="0">
                <a:solidFill>
                  <a:srgbClr val="1F2A44"/>
                </a:solidFill>
                <a:latin typeface="Calibri" pitchFamily="34" charset="0"/>
                <a:cs typeface="Calibri" pitchFamily="34" charset="-120"/>
              </a:rPr>
              <a:t>개로 확장</a:t>
            </a:r>
            <a:endParaRPr lang="en-US" sz="1150" dirty="0"/>
          </a:p>
        </p:txBody>
      </p:sp>
      <p:sp>
        <p:nvSpPr>
          <p:cNvPr id="117" name="Shape 19">
            <a:extLst>
              <a:ext uri="{FF2B5EF4-FFF2-40B4-BE49-F238E27FC236}">
                <a16:creationId xmlns:a16="http://schemas.microsoft.com/office/drawing/2014/main" id="{3E51F4DF-F00C-3F01-6441-65AFF5CDCC2F}"/>
              </a:ext>
            </a:extLst>
          </p:cNvPr>
          <p:cNvSpPr/>
          <p:nvPr/>
        </p:nvSpPr>
        <p:spPr>
          <a:xfrm>
            <a:off x="6601968" y="4343400"/>
            <a:ext cx="0" cy="50292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20">
            <a:extLst>
              <a:ext uri="{FF2B5EF4-FFF2-40B4-BE49-F238E27FC236}">
                <a16:creationId xmlns:a16="http://schemas.microsoft.com/office/drawing/2014/main" id="{0C03F0BB-FF21-7B32-A84B-5382EE583954}"/>
              </a:ext>
            </a:extLst>
          </p:cNvPr>
          <p:cNvSpPr/>
          <p:nvPr/>
        </p:nvSpPr>
        <p:spPr>
          <a:xfrm>
            <a:off x="6355080" y="4983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1" name="Image 3" descr="icons/chartline_navy.png">
            <a:extLst>
              <a:ext uri="{FF2B5EF4-FFF2-40B4-BE49-F238E27FC236}">
                <a16:creationId xmlns:a16="http://schemas.microsoft.com/office/drawing/2014/main" id="{3CB8DBA0-D2DD-90F1-AB63-805AB08E8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5084064"/>
            <a:ext cx="301752" cy="301752"/>
          </a:xfrm>
          <a:prstGeom prst="rect">
            <a:avLst/>
          </a:prstGeom>
        </p:spPr>
      </p:pic>
      <p:sp>
        <p:nvSpPr>
          <p:cNvPr id="123" name="Text 21">
            <a:extLst>
              <a:ext uri="{FF2B5EF4-FFF2-40B4-BE49-F238E27FC236}">
                <a16:creationId xmlns:a16="http://schemas.microsoft.com/office/drawing/2014/main" id="{C7EFFA1B-5F7A-E3D6-B956-21C0B7946C7F}"/>
              </a:ext>
            </a:extLst>
          </p:cNvPr>
          <p:cNvSpPr/>
          <p:nvPr/>
        </p:nvSpPr>
        <p:spPr>
          <a:xfrm>
            <a:off x="6995160" y="4937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추론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586442" y="5329468"/>
            <a:ext cx="1744388" cy="492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33458" y="5329468"/>
            <a:ext cx="1744388" cy="492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D3762D66-6296-8880-F33B-38DD49A4EDD1}"/>
              </a:ext>
            </a:extLst>
          </p:cNvPr>
          <p:cNvSpPr/>
          <p:nvPr/>
        </p:nvSpPr>
        <p:spPr>
          <a:xfrm>
            <a:off x="6995160" y="5239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/>
              <a:t>SKT / KT / LG U+ </a:t>
            </a:r>
            <a:r>
              <a:rPr lang="ko-KR" altLang="en-US" sz="1150" dirty="0"/>
              <a:t>이동 확률 산출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FF6E43D3-2783-8462-7C86-015FA5855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350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970C45A-876F-3A04-F687-4F727DAED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</a:rPr>
              <a:t>MODEL 2 · EVALUATION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</a:rPr>
              <a:t>모델 성능 비교 — LightGBM vs XGBoost</a:t>
            </a:r>
          </a:p>
        </p:txBody>
      </p:sp>
      <p:sp>
        <p:nvSpPr>
          <p:cNvPr id="5" name="Text LGB Title"/>
          <p:cNvSpPr/>
          <p:nvPr/>
        </p:nvSpPr>
        <p:spPr>
          <a:xfrm>
            <a:off x="731520" y="1955412"/>
            <a:ext cx="503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</a:rPr>
              <a:t>LightGBM</a:t>
            </a:r>
          </a:p>
        </p:txBody>
      </p:sp>
      <p:sp>
        <p:nvSpPr>
          <p:cNvPr id="6" name="Text LGB Acc"/>
          <p:cNvSpPr/>
          <p:nvPr/>
        </p:nvSpPr>
        <p:spPr>
          <a:xfrm>
            <a:off x="731520" y="2423160"/>
            <a:ext cx="503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</a:rPr>
              <a:t>62.22%</a:t>
            </a:r>
            <a:r>
              <a:rPr lang="ko-KR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 Accuracy</a:t>
            </a:r>
          </a:p>
        </p:txBody>
      </p:sp>
      <p:sp>
        <p:nvSpPr>
          <p:cNvPr id="7" name="Line LGB"/>
          <p:cNvSpPr/>
          <p:nvPr/>
        </p:nvSpPr>
        <p:spPr>
          <a:xfrm>
            <a:off x="731520" y="3063240"/>
            <a:ext cx="493776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LGB Detail"/>
          <p:cNvSpPr/>
          <p:nvPr/>
        </p:nvSpPr>
        <p:spPr>
          <a:xfrm>
            <a:off x="726000" y="3072753"/>
            <a:ext cx="4842462" cy="21935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1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SKT 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0.66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0.98  |  </a:t>
            </a:r>
            <a:r>
              <a:rPr 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0.79  |  </a:t>
            </a:r>
            <a:endParaRPr lang="en-US" altLang="ko-KR" sz="16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r>
              <a:rPr 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KT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   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0.59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0.54  |  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57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| </a:t>
            </a:r>
            <a:endParaRPr lang="en-US" altLang="ko-KR" sz="16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r>
              <a:rPr 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LGU+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0.53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0.21  |  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30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|</a:t>
            </a:r>
            <a:endParaRPr lang="en-US" altLang="ko-KR" sz="16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r>
              <a:rPr lang="ko-KR" altLang="ko-KR" sz="13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endParaRPr lang="ko-KR" sz="13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ko-KR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macro avg F1  0.55  |  weighted avg F1  0.58</a:t>
            </a:r>
          </a:p>
          <a:p>
            <a:endParaRPr lang="ko-KR" sz="1300" dirty="0"/>
          </a:p>
          <a:p>
            <a:pPr marL="0" indent="0">
              <a:buNone/>
            </a:pPr>
            <a:r>
              <a:rPr lang="ko-KR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</a:rPr>
              <a:t>SKT 이동 예측에 강점</a:t>
            </a:r>
          </a:p>
        </p:txBody>
      </p:sp>
      <p:sp>
        <p:nvSpPr>
          <p:cNvPr id="10" name="Badge"/>
          <p:cNvSpPr/>
          <p:nvPr/>
        </p:nvSpPr>
        <p:spPr>
          <a:xfrm>
            <a:off x="7326999" y="2019567"/>
            <a:ext cx="968215" cy="320040"/>
          </a:xfrm>
          <a:prstGeom prst="roundRect">
            <a:avLst>
              <a:gd name="adj" fmla="val 16667"/>
            </a:avLst>
          </a:prstGeom>
          <a:solidFill>
            <a:srgbClr val="FF6B5B"/>
          </a:solidFill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★ 최종 선택</a:t>
            </a:r>
          </a:p>
        </p:txBody>
      </p:sp>
      <p:sp>
        <p:nvSpPr>
          <p:cNvPr id="11" name="Text XGB Title"/>
          <p:cNvSpPr/>
          <p:nvPr/>
        </p:nvSpPr>
        <p:spPr>
          <a:xfrm>
            <a:off x="6218100" y="1950987"/>
            <a:ext cx="521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mbria" pitchFamily="34" charset="0"/>
                <a:ea typeface="Cambria" pitchFamily="34" charset="-122"/>
              </a:rPr>
              <a:t>XGBoost</a:t>
            </a:r>
          </a:p>
        </p:txBody>
      </p:sp>
      <p:sp>
        <p:nvSpPr>
          <p:cNvPr id="12" name="Text XGB Acc"/>
          <p:cNvSpPr/>
          <p:nvPr/>
        </p:nvSpPr>
        <p:spPr>
          <a:xfrm>
            <a:off x="6216295" y="2408187"/>
            <a:ext cx="521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</a:rPr>
              <a:t>61.34%</a:t>
            </a:r>
            <a:r>
              <a:rPr lang="ko-KR" sz="13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 Accuracy</a:t>
            </a:r>
          </a:p>
        </p:txBody>
      </p:sp>
      <p:sp>
        <p:nvSpPr>
          <p:cNvPr id="14" name="Text XGB Detail"/>
          <p:cNvSpPr/>
          <p:nvPr/>
        </p:nvSpPr>
        <p:spPr>
          <a:xfrm>
            <a:off x="6216295" y="3070541"/>
            <a:ext cx="4937760" cy="2214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altLang="ko-KR" sz="1100" b="1" dirty="0">
              <a:latin typeface="Calibri" pitchFamily="34" charset="0"/>
              <a:ea typeface="Calibri" pitchFamily="34" charset="-122"/>
            </a:endParaRPr>
          </a:p>
          <a:p>
            <a:r>
              <a:rPr lang="ko-KR" sz="1600" b="1" dirty="0">
                <a:latin typeface="Calibri" pitchFamily="34" charset="0"/>
                <a:ea typeface="Calibri" pitchFamily="34" charset="-122"/>
              </a:rPr>
              <a:t>SKT </a:t>
            </a:r>
            <a:r>
              <a:rPr lang="en-US" altLang="ko-KR" sz="1600" b="1" dirty="0">
                <a:latin typeface="Calibri" pitchFamily="34" charset="0"/>
                <a:ea typeface="Calibri" pitchFamily="34" charset="-122"/>
              </a:rPr>
              <a:t>  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0.66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0.98  |  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0.79  | </a:t>
            </a:r>
            <a:endParaRPr lang="ko-KR" sz="1600" b="1" dirty="0">
              <a:latin typeface="Calibri" pitchFamily="34" charset="0"/>
              <a:ea typeface="Calibri" pitchFamily="34" charset="-122"/>
            </a:endParaRPr>
          </a:p>
          <a:p>
            <a:r>
              <a:rPr lang="ko-KR" sz="1600" b="1" dirty="0">
                <a:latin typeface="Calibri" pitchFamily="34" charset="0"/>
                <a:ea typeface="Calibri" pitchFamily="34" charset="-122"/>
              </a:rPr>
              <a:t>KT </a:t>
            </a:r>
            <a:r>
              <a:rPr lang="en-US" altLang="ko-KR" sz="1600" b="1" dirty="0">
                <a:latin typeface="Calibri" pitchFamily="34" charset="0"/>
                <a:ea typeface="Calibri" pitchFamily="34" charset="-122"/>
              </a:rPr>
              <a:t>    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0.60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0.46  |  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52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| </a:t>
            </a:r>
            <a:endParaRPr lang="ko-KR" sz="1600" b="1" dirty="0">
              <a:latin typeface="Calibri" pitchFamily="34" charset="0"/>
              <a:ea typeface="Calibri" pitchFamily="34" charset="-122"/>
            </a:endParaRPr>
          </a:p>
          <a:p>
            <a:r>
              <a:rPr lang="ko-KR" sz="1600" b="1" dirty="0">
                <a:latin typeface="Calibri" pitchFamily="34" charset="0"/>
                <a:ea typeface="Calibri" pitchFamily="34" charset="-122"/>
              </a:rPr>
              <a:t>LGU+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Precision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0.50 </a:t>
            </a:r>
            <a:r>
              <a:rPr lang="ko-KR" alt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|  Recall 0.37  |  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F1 0.</a:t>
            </a:r>
            <a:r>
              <a:rPr lang="en-US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42</a:t>
            </a:r>
            <a:r>
              <a:rPr lang="ko-KR" altLang="ko-KR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 |</a:t>
            </a:r>
            <a:endParaRPr lang="en-US" altLang="ko-KR" sz="1600" b="1" dirty="0">
              <a:solidFill>
                <a:srgbClr val="131B2E"/>
              </a:solidFill>
              <a:latin typeface="Calibri" pitchFamily="34" charset="0"/>
              <a:ea typeface="Calibri" pitchFamily="34" charset="-122"/>
            </a:endParaRPr>
          </a:p>
          <a:p>
            <a:r>
              <a:rPr lang="ko-KR" altLang="ko-KR" sz="13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</a:rPr>
              <a:t> </a:t>
            </a:r>
            <a:endParaRPr lang="ko-KR" sz="1300" b="1" dirty="0"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ko-KR" sz="1400" b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macro</a:t>
            </a:r>
            <a:r>
              <a:rPr lang="ko-KR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ko-KR" sz="1400" b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avg</a:t>
            </a:r>
            <a:r>
              <a:rPr lang="ko-KR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F1  0.57  |  </a:t>
            </a:r>
            <a:r>
              <a:rPr lang="ko-KR" sz="1400" b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weighted</a:t>
            </a:r>
            <a:r>
              <a:rPr lang="ko-KR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ko-KR" sz="1400" b="1" dirty="0" err="1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avg</a:t>
            </a:r>
            <a:r>
              <a:rPr lang="ko-KR" sz="14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 F1  0.59</a:t>
            </a:r>
          </a:p>
          <a:p>
            <a:endParaRPr lang="ko-KR" sz="1300" dirty="0"/>
          </a:p>
          <a:p>
            <a:pPr marL="0" indent="0">
              <a:buNone/>
            </a:pPr>
            <a:r>
              <a:rPr lang="ko-KR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</a:rPr>
              <a:t>3사 균형 예측 — 실제 서비스 목적에 부합</a:t>
            </a:r>
          </a:p>
        </p:txBody>
      </p:sp>
      <p:sp>
        <p:nvSpPr>
          <p:cNvPr id="15" name="Text PageNum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</a:rPr>
              <a:t>10</a:t>
            </a:r>
          </a:p>
        </p:txBody>
      </p:sp>
      <p:sp>
        <p:nvSpPr>
          <p:cNvPr id="23" name="Line LGB">
            <a:extLst>
              <a:ext uri="{FF2B5EF4-FFF2-40B4-BE49-F238E27FC236}">
                <a16:creationId xmlns:a16="http://schemas.microsoft.com/office/drawing/2014/main" id="{65F50ACD-130C-3711-A2BE-E8000A9CC407}"/>
              </a:ext>
            </a:extLst>
          </p:cNvPr>
          <p:cNvSpPr/>
          <p:nvPr/>
        </p:nvSpPr>
        <p:spPr>
          <a:xfrm>
            <a:off x="6216295" y="3063240"/>
            <a:ext cx="4937760" cy="0"/>
          </a:xfrm>
          <a:prstGeom prst="line">
            <a:avLst/>
          </a:prstGeom>
          <a:noFill/>
          <a:ln w="9525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SCREEN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차기 통신사 예측 화면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기본 정보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나이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소득 수준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가입 후 </a:t>
            </a:r>
            <a:r>
              <a:rPr lang="en-US" sz="1300" dirty="0" err="1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</a:t>
            </a: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연수</a:t>
            </a: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사용 기간</a:t>
            </a:r>
            <a:r>
              <a:rPr lang="en-US" altLang="ko-KR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611880" cy="502920"/>
          </a:xfrm>
          <a:prstGeom prst="rect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89120" y="1828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이용 현황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현재 가입 통신사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결합할인 여부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누적 통신사 변경 횟수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611880" cy="502920"/>
          </a:xfrm>
          <a:prstGeom prst="rect">
            <a:avLst/>
          </a:prstGeom>
          <a:solidFill>
            <a:srgbClr val="2E9E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0" y="18288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비용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현재 월평균 통신비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이전 시점 통신비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520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월평균 할부금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카드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 / KT / LG U+ 이동 확률을 카드 3개로 표시, 가장 확률 높은 통신사를 강조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시스템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인증 로그인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InsightFace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63440" y="182880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MySQL에 등록된 얼굴 임베딩과 실시간 카메라 입력을 비교해 2차 인증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22960" y="3182112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s/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3192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웹 화면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916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입력 폼 &amp; 결과 시각화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63440" y="297180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이탈 예측 / 차기 통신사 예측 / AI 분석 화면 제공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22960" y="4325112"/>
            <a:ext cx="548640" cy="548640"/>
          </a:xfrm>
          <a:prstGeom prst="ellipse">
            <a:avLst/>
          </a:prstGeom>
          <a:solidFill>
            <a:srgbClr val="2E9E7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622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 서빙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9164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5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663440" y="411480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입력을 78개/17개 피처로 가공해 실시간 추론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22960" y="5468112"/>
            <a:ext cx="548640" cy="54864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60527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LLM 분석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91640" y="5715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EXAONE 3.5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663440" y="525780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결과를 바탕으로 리텐션·경쟁 전략을 자연어로 생성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LOGIN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얼굴 인증 2차 로그인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→ 로그인 플로우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+ 얼굴 등록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8529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아이디·암호 입력 후 카메라로 얼굴을 촬영해 임베딩을 MySQL에 저장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401568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3558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인증 (아이디/암호)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69417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시 아이디·암호를 먼저 확인해 일치 여부 검증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1970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인증 (얼굴 대조)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453542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카메라 입력의 얼굴 임베딩과 등록된 임베딩의 유사도 계산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084064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50383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판정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63040" y="53766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임계값(DEFAULT_SIMILARITY_THRESHOLD) 이상이면 로그인 성공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icons/shield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3816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43800" y="2697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입력 처리 및 얼굴 박스 표시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4380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InsightFace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임베딩 추출 및 유사도 계산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43800" y="3794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계정 및 얼굴 임베딩 저장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43800" y="4434840"/>
            <a:ext cx="3840480" cy="0"/>
          </a:xfrm>
          <a:prstGeom prst="line">
            <a:avLst/>
          </a:prstGeom>
          <a:noFill/>
          <a:ln w="9525">
            <a:solidFill>
              <a:srgbClr val="F2D9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54380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2차 인증인가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43800" y="4892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아이디·암호가 노출되어도 등록된 얼굴이 없으면 로그인할 수 없어, 단일 인증보다 계정 탈취 위험을 낮춤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EXAONE 3.5 기반 분석 기능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219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리텐션 분석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</a:t>
            </a: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고객 일괄 예측 결과 (CSV 업로드)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위험 고객 공통 특징, 원인 추정, 리텐션 전략 2~3가지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069080"/>
            <a:ext cx="4754880" cy="0"/>
          </a:xfrm>
          <a:prstGeom prst="line">
            <a:avLst/>
          </a:prstGeom>
          <a:noFill/>
          <a:ln w="9525">
            <a:solidFill>
              <a:srgbClr val="DDD7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42519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“연령대, 통신비, 결합할인 여부를 종합해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위험군의 패턴을 짚어주고, 고객을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유지할 실질적 액션을 제안합니다 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FF6B5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92240" y="210312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22199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경쟁 전략 분석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2880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</a:t>
            </a: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통신사 예측 결과 (단일 고객)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92240" y="3383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원인 분석, 경쟁사 우위 요인, 기업 차원 대응 전략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92240" y="4069080"/>
            <a:ext cx="4754880" cy="0"/>
          </a:xfrm>
          <a:prstGeom prst="line">
            <a:avLst/>
          </a:prstGeom>
          <a:noFill/>
          <a:ln w="9525">
            <a:solidFill>
              <a:srgbClr val="F2D9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492240" y="42519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“개인을 어떻게 붙잡을지가 아니라, 현재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통신사가 경쟁사 대비 시장에서 어떤 전략을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취해야 하는지를 분석하도록 역할을 명시 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한계점 및 회고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지역(area) 변수 제외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74920" y="1993392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검증 결과 기여도가 낮아 최신 모델부터 입력에서 제외. 추후 재검토 가능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40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50215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입력의 단순화 가정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74920" y="3502152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통신사 모델의 누적 변경 횟수·이전 통신비 등은 실제 이력 대신 사용자 직접 입력으로 단순화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rgbClr val="E8B33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49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01091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코드값 라벨 일부 미확인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74920" y="5010912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가구원수 등 일부 코드값(1~3)의 정확한 의미는 공식 코드북에 명시되지 않아 추정에 의존하지 않고 코드값 그대로 표기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s/cogs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정교화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결측 처리 방식 개선 및 추가 변수(usage_period 등) 검토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57600" y="23774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cons/table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514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분석 확장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7600" y="37033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통신사 모델에도 다수 고객 일괄 예측 기능 추가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92240" y="23774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9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cons/server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514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 전환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7033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로컬 서빙 → 클라우드 기반 추론 서버로 이전 검토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1E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326880" y="23774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6B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cons/chartline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25146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모니터링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26880" y="37033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조사 연도 데이터 반영 시 모델 자동 재학습 파이프라인 구상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6B5B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31B2E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icons/flag_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03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260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9436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SKN32-2nd-1Team · 통신사 고객 이탈 예측 프로젝트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" y="4572000"/>
            <a:ext cx="2926080" cy="0"/>
          </a:xfrm>
          <a:prstGeom prst="line">
            <a:avLst/>
          </a:prstGeom>
          <a:noFill/>
          <a:ln w="12700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9436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1411</Words>
  <Application>Microsoft Office PowerPoint</Application>
  <PresentationFormat>와이드스크린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통신사 고객 이탈 예측 프로젝트</dc:title>
  <dc:subject>PptxGenJS Presentation</dc:subject>
  <dc:creator>SKN32-2nd-1Team</dc:creator>
  <cp:lastModifiedBy>정세환</cp:lastModifiedBy>
  <cp:revision>7</cp:revision>
  <dcterms:created xsi:type="dcterms:W3CDTF">2026-06-23T00:48:16Z</dcterms:created>
  <dcterms:modified xsi:type="dcterms:W3CDTF">2026-06-23T05:44:22Z</dcterms:modified>
</cp:coreProperties>
</file>